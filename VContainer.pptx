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71" r:id="rId3"/>
    <p:sldId id="273" r:id="rId4"/>
    <p:sldId id="274" r:id="rId5"/>
    <p:sldId id="275" r:id="rId6"/>
    <p:sldId id="277" r:id="rId7"/>
    <p:sldId id="276" r:id="rId8"/>
    <p:sldId id="272" r:id="rId9"/>
    <p:sldId id="257" r:id="rId10"/>
    <p:sldId id="261" r:id="rId11"/>
    <p:sldId id="262" r:id="rId12"/>
    <p:sldId id="260" r:id="rId13"/>
    <p:sldId id="263" r:id="rId14"/>
    <p:sldId id="259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99FF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Светлый стиль 2 -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589" y="-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Прямоугольник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56" name="Прямоугольник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Прямоугольник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Прямоугольник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Прямоугольник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Полилиния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Полилиния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Полилиния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Полилиния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Полилиния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Полилиния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Полилиния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Полилиния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Полилиния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Полилиния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Полилиния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Полилиния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Полилиния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Прямоугольник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Прямоугольник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Прямоугольник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Прямоугольник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Прямая соединительная линия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grpSp>
        <p:nvGrpSpPr>
          <p:cNvPr id="14" name="Группа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Прямая соединительная линия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Группа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Прямоугольник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36912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Dependency Injection </a:t>
            </a:r>
            <a:r>
              <a:rPr lang="en-US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(</a:t>
            </a:r>
            <a:r>
              <a:rPr lang="ru-RU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DI)</a:t>
            </a:r>
            <a:r>
              <a:rPr lang="ru-RU" sz="3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 </a:t>
            </a:r>
            <a:endParaRPr lang="en-US" sz="3600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</a:endParaRPr>
          </a:p>
          <a:p>
            <a:pPr algn="ctr"/>
            <a:r>
              <a:rPr lang="ru-RU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Внедрение </a:t>
            </a:r>
            <a:r>
              <a:rPr lang="ru-RU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зависимостей</a:t>
            </a:r>
            <a:endParaRPr lang="en-US" sz="3600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14340" name="AutoShape 4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2" name="AutoShape 6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18864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Путь любого разраба в </a:t>
            </a:r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Unity:</a:t>
            </a:r>
            <a:endParaRPr lang="ru-RU" sz="2800" b="1" smtClean="0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pic>
        <p:nvPicPr>
          <p:cNvPr id="27651" name="Picture 3" descr="C:\Users\660\Desktop\300px-Сверхразум_шаблон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839712"/>
            <a:ext cx="8124057" cy="57545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755576" y="1124744"/>
            <a:ext cx="5976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smtClean="0">
                <a:solidFill>
                  <a:schemeClr val="bg1">
                    <a:lumMod val="85000"/>
                    <a:lumOff val="15000"/>
                  </a:schemeClr>
                </a:solidFill>
                <a:latin typeface="Segoe UI Black" pitchFamily="34" charset="0"/>
                <a:ea typeface="Segoe UI Black" pitchFamily="34" charset="0"/>
              </a:rPr>
              <a:t>Статические классы-прослойки </a:t>
            </a:r>
          </a:p>
          <a:p>
            <a:pPr algn="ctr"/>
            <a:r>
              <a:rPr lang="ru-RU" sz="2400" smtClean="0">
                <a:solidFill>
                  <a:schemeClr val="bg1">
                    <a:lumMod val="85000"/>
                    <a:lumOff val="15000"/>
                  </a:schemeClr>
                </a:solidFill>
                <a:latin typeface="Segoe UI Black" pitchFamily="34" charset="0"/>
                <a:ea typeface="Segoe UI Black" pitchFamily="34" charset="0"/>
              </a:rPr>
              <a:t>для доступа к данным</a:t>
            </a:r>
            <a:endParaRPr lang="ru-RU" sz="2400">
              <a:solidFill>
                <a:schemeClr val="bg1">
                  <a:lumMod val="85000"/>
                  <a:lumOff val="15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5576" y="2780928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smtClean="0">
                <a:solidFill>
                  <a:schemeClr val="bg1">
                    <a:lumMod val="85000"/>
                    <a:lumOff val="15000"/>
                  </a:schemeClr>
                </a:solidFill>
                <a:latin typeface="Segoe UI Black" pitchFamily="34" charset="0"/>
                <a:ea typeface="Segoe UI Black" pitchFamily="34" charset="0"/>
              </a:rPr>
              <a:t>Синглтоны</a:t>
            </a:r>
            <a:endParaRPr lang="ru-RU" sz="2400">
              <a:solidFill>
                <a:schemeClr val="bg1">
                  <a:lumMod val="85000"/>
                  <a:lumOff val="15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5576" y="4149080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smtClean="0">
                <a:solidFill>
                  <a:schemeClr val="bg1">
                    <a:lumMod val="85000"/>
                    <a:lumOff val="15000"/>
                  </a:schemeClr>
                </a:solidFill>
                <a:latin typeface="Segoe UI Black" pitchFamily="34" charset="0"/>
                <a:ea typeface="Segoe UI Black" pitchFamily="34" charset="0"/>
              </a:rPr>
              <a:t>Сервис-локатор</a:t>
            </a:r>
            <a:endParaRPr lang="ru-RU" sz="2400">
              <a:solidFill>
                <a:schemeClr val="bg1">
                  <a:lumMod val="85000"/>
                  <a:lumOff val="15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5589240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solidFill>
                  <a:schemeClr val="bg1">
                    <a:lumMod val="85000"/>
                    <a:lumOff val="15000"/>
                  </a:schemeClr>
                </a:solidFill>
                <a:latin typeface="Segoe UI Black" pitchFamily="34" charset="0"/>
                <a:ea typeface="Segoe UI Black" pitchFamily="34" charset="0"/>
              </a:rPr>
              <a:t>DI Container</a:t>
            </a:r>
            <a:endParaRPr lang="ru-RU" sz="2400">
              <a:solidFill>
                <a:schemeClr val="bg1">
                  <a:lumMod val="85000"/>
                  <a:lumOff val="15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5-конечная звезда 9"/>
          <p:cNvSpPr/>
          <p:nvPr/>
        </p:nvSpPr>
        <p:spPr>
          <a:xfrm>
            <a:off x="1907704" y="1124744"/>
            <a:ext cx="5760640" cy="4824536"/>
          </a:xfrm>
          <a:prstGeom prst="star5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915816" y="3401124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SOLID</a:t>
            </a:r>
            <a:endParaRPr lang="en-US" sz="5400" smtClean="0">
              <a:solidFill>
                <a:srgbClr val="FFC000"/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14340" name="AutoShape 4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2" name="AutoShape 6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539552" y="2525995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S</a:t>
            </a:r>
            <a:r>
              <a:rPr lang="en-US" sz="48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RP</a:t>
            </a:r>
            <a:endParaRPr lang="en-US" sz="4800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1680" y="5910371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O</a:t>
            </a:r>
            <a:r>
              <a:rPr lang="en-US" sz="48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CP</a:t>
            </a:r>
            <a:endParaRPr lang="en-US" sz="4800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3888" y="404664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L</a:t>
            </a:r>
            <a:r>
              <a:rPr lang="en-US" sz="48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SP</a:t>
            </a:r>
            <a:endParaRPr lang="en-US" sz="4800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08104" y="5877272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I</a:t>
            </a:r>
            <a:r>
              <a:rPr lang="en-US" sz="48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SP</a:t>
            </a:r>
            <a:endParaRPr lang="en-US" sz="4800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52320" y="2492896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D</a:t>
            </a:r>
            <a:r>
              <a:rPr lang="en-US" sz="48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IP</a:t>
            </a:r>
            <a:endParaRPr lang="en-US" sz="4800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32" name="Кольцо 31"/>
          <p:cNvSpPr/>
          <p:nvPr/>
        </p:nvSpPr>
        <p:spPr>
          <a:xfrm>
            <a:off x="7524328" y="2276872"/>
            <a:ext cx="1512168" cy="1224136"/>
          </a:xfrm>
          <a:prstGeom prst="donut">
            <a:avLst>
              <a:gd name="adj" fmla="val 5202"/>
            </a:avLst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AutoShape 4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2" name="AutoShape 6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67544" y="188640"/>
            <a:ext cx="8568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Dependency Inversion Principle (</a:t>
            </a:r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DIP</a:t>
            </a:r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)</a:t>
            </a:r>
          </a:p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Принцип инверсии зависимостей</a:t>
            </a:r>
            <a:endParaRPr lang="en-US" sz="2800" b="1" smtClean="0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560" y="1700808"/>
            <a:ext cx="82809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Что говорит 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DIP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?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ru-RU" sz="2000" b="1" smtClean="0">
              <a:solidFill>
                <a:srgbClr val="F9FAFB"/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 Модули 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верхних уровней не должны зависеть от модулей нижних уровней.</a:t>
            </a:r>
            <a:r>
              <a:rPr lang="ru-RU" sz="2000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 Оба должны зависеть от абстракций (интерфейсов, абстрактных </a:t>
            </a:r>
            <a:r>
              <a:rPr lang="ru-RU" sz="2000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классов</a:t>
            </a:r>
            <a:r>
              <a:rPr lang="ru-RU" sz="2000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sz="2000" smtClean="0">
              <a:solidFill>
                <a:srgbClr val="F9FAFB"/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 Абстракции 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не должны зависеть от деталей.</a:t>
            </a:r>
            <a:r>
              <a:rPr lang="ru-RU" sz="2000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 Детали должны зависеть </a:t>
            </a:r>
            <a:r>
              <a:rPr lang="ru-RU" sz="2000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от </a:t>
            </a:r>
            <a:r>
              <a:rPr lang="ru-RU" sz="2000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абстракций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sz="2000" smtClean="0">
              <a:solidFill>
                <a:srgbClr val="F9FAFB"/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i="1" u="sng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Проще говоря</a:t>
            </a:r>
            <a:r>
              <a:rPr lang="ru-RU" sz="2000" i="1" u="sng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: </a:t>
            </a:r>
            <a:endParaRPr lang="ru-RU" sz="2000" i="1" u="sng" smtClean="0">
              <a:solidFill>
                <a:srgbClr val="F9FAFB"/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i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Вашей </a:t>
            </a:r>
            <a:r>
              <a:rPr lang="ru-RU" sz="2000" i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бизнес-логике (верхний уровень) не нужно знать, как именно сохраняются </a:t>
            </a:r>
            <a:r>
              <a:rPr lang="ru-RU" sz="2000" i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данные </a:t>
            </a:r>
            <a:r>
              <a:rPr lang="ru-RU" sz="2000" i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- </a:t>
            </a:r>
            <a:r>
              <a:rPr lang="ru-RU" sz="2000" i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через PlayerPrefs, SQLite или облако. Она должна работать с интерфейсом ISaveRepository. Конкретная реализация «подставляется» </a:t>
            </a:r>
            <a:r>
              <a:rPr lang="ru-RU" sz="2000" i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извне</a:t>
            </a:r>
            <a:r>
              <a:rPr lang="ru-RU" sz="2000" i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.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AutoShape 4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2" name="AutoShape 6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67544" y="188640"/>
            <a:ext cx="856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Как связаны DI и DIP?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560" y="980728"/>
            <a:ext cx="8280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20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DIP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 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- 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это архитектурный принцип (что 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делать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)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/>
            </a:r>
            <a:b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</a:br>
            <a:r>
              <a:rPr lang="ru-RU" sz="20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 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- </a:t>
            </a:r>
            <a:r>
              <a:rPr lang="ru-RU" sz="2000" b="1" smtClean="0">
                <a:solidFill>
                  <a:srgbClr val="F9FAFB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это один из паттернов реализации (как сделать)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1916832"/>
            <a:ext cx="82809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Прямая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зависимость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:</a:t>
            </a: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DIP требует, чтобы зависимости поставлялись извне, а не создавались внутри класса. Именно это и делает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-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класс не создаёт new Repository(), а получает готовый объект через конструктор, метод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или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свойство</a:t>
            </a: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Без DIP использование DI теряет большую часть своей ценности. Если вы внедряете конкретный класс FileRepository, а не интерфейс IRepository, то класс всё равно жёстко привязан к деталям. Вы сможете подменить реализацию только в том месте, где создаёте объект, но это уже не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полноценная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инверсия</a:t>
            </a: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 естественным образом подталкивает к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соблюдению </a:t>
            </a:r>
            <a:r>
              <a:rPr lang="en-US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IP</a:t>
            </a:r>
            <a:r>
              <a:rPr lang="en-US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.</a:t>
            </a:r>
            <a:r>
              <a:rPr lang="en-US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Когда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вы регистрируете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в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контейнере: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ru-RU" b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builder.Register&lt;IRepository</a:t>
            </a:r>
            <a:r>
              <a:rPr lang="ru-RU" b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, </a:t>
            </a:r>
            <a:r>
              <a:rPr lang="ru-RU" b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SqlRepository</a:t>
            </a:r>
            <a:r>
              <a:rPr lang="ru-RU" b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&gt;();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вы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невольно начинаете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мыслить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абстракциями</a:t>
            </a:r>
            <a:endParaRPr lang="ru-RU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AutoShape 4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2" name="AutoShape 6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67544" y="188640"/>
            <a:ext cx="856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Как связаны DI и DIP?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105273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Обратная зависимость (DIP →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):</a:t>
            </a:r>
            <a:endParaRPr lang="en-US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DIP можно реализовать и без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DI-контейнера </a:t>
            </a:r>
            <a:r>
              <a:rPr lang="en-US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–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через</a:t>
            </a:r>
            <a:r>
              <a:rPr lang="en-US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фабрики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, сервис-локатор или даже ручное внедрение (явное создание зависимостей в корне композиции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). </a:t>
            </a:r>
            <a:endParaRPr lang="en-US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Однако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DI-контейнеры делают это удобнее и автоматизированнее. Но сам паттерн DI (как способ передачи зависимостей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) </a:t>
            </a:r>
            <a:r>
              <a:rPr lang="en-US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–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 </a:t>
            </a:r>
            <a:r>
              <a:rPr lang="ru-RU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это, по сути, техническое воплощение DIP.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AutoShape 4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2" name="AutoShape 6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467544" y="116632"/>
            <a:ext cx="3744416" cy="681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sz="185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Мои первые попытки осилить </a:t>
            </a:r>
            <a:r>
              <a:rPr lang="en-US" sz="185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Zenject</a:t>
            </a:r>
            <a:r>
              <a:rPr lang="en-US" sz="185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 </a:t>
            </a:r>
            <a:r>
              <a:rPr lang="ru-RU" sz="185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оказались провальными не потому, что он сложнее, а потому, что я создавал классы внутри классов (композиция) вместо прокидывания через конструктор (агрегация)</a:t>
            </a: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endParaRPr lang="ru-RU" sz="1850" b="1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sz="185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Поэтому я никак не мог ощутить преимуществ </a:t>
            </a:r>
            <a:r>
              <a:rPr lang="en-US" sz="185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DI </a:t>
            </a:r>
            <a:r>
              <a:rPr lang="ru-RU" sz="185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контейнера и его применение было ради применения</a:t>
            </a: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endParaRPr lang="ru-RU" sz="1850" b="1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  <a:p>
            <a:pPr lvl="0" indent="355600" fontAlgn="base">
              <a:spcBef>
                <a:spcPct val="0"/>
              </a:spcBef>
              <a:spcAft>
                <a:spcPct val="0"/>
              </a:spcAft>
            </a:pPr>
            <a:r>
              <a:rPr lang="ru-RU" sz="185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В новом проекте я выбрал другой подход к архитектуре и уже туда прекрасно подошёл </a:t>
            </a:r>
            <a:r>
              <a:rPr lang="en-US" sz="185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VContainer</a:t>
            </a:r>
            <a:r>
              <a:rPr lang="ru-RU" sz="185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, но с таким же успехом подошёл бы и </a:t>
            </a:r>
            <a:r>
              <a:rPr lang="en-US" sz="185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Zenject</a:t>
            </a:r>
            <a:r>
              <a:rPr lang="en-US" sz="185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, </a:t>
            </a:r>
            <a:r>
              <a:rPr lang="en-US" sz="1850" b="1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  <a:cs typeface="Arial" pitchFamily="34" charset="0"/>
              </a:rPr>
              <a:t>Extenject</a:t>
            </a:r>
            <a:endParaRPr lang="ru-RU" sz="1850" b="1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  <a:cs typeface="Arial" pitchFamily="34" charset="0"/>
            </a:endParaRPr>
          </a:p>
        </p:txBody>
      </p:sp>
      <p:pic>
        <p:nvPicPr>
          <p:cNvPr id="32770" name="Picture 2" descr="C:\Users\660\Desktop\145477511913254845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118072"/>
            <a:ext cx="4674096" cy="66138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3" name="Picture 7" descr="C:\Users\660\Desktop\depositphotos_131484116-stock-photo-woman-making-injection-syringe-child.jpg"/>
          <p:cNvPicPr>
            <a:picLocks noChangeAspect="1" noChangeArrowheads="1"/>
          </p:cNvPicPr>
          <p:nvPr/>
        </p:nvPicPr>
        <p:blipFill>
          <a:blip r:embed="rId2" cstate="print"/>
          <a:srcRect t="20757"/>
          <a:stretch>
            <a:fillRect/>
          </a:stretch>
        </p:blipFill>
        <p:spPr bwMode="auto">
          <a:xfrm>
            <a:off x="4860032" y="2267160"/>
            <a:ext cx="4143896" cy="4330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539552" y="404664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Dependency Injection </a:t>
            </a:r>
            <a:r>
              <a:rPr lang="en-US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(</a:t>
            </a:r>
            <a:r>
              <a:rPr lang="ru-RU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DI)</a:t>
            </a:r>
            <a:r>
              <a:rPr lang="ru-RU" sz="3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 </a:t>
            </a:r>
            <a:endParaRPr lang="en-US" sz="3600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</a:endParaRPr>
          </a:p>
          <a:p>
            <a:pPr algn="ctr"/>
            <a:r>
              <a:rPr lang="ru-RU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Внедрение </a:t>
            </a:r>
            <a:r>
              <a:rPr lang="ru-RU" sz="3600" b="1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зависимостей</a:t>
            </a:r>
            <a:endParaRPr lang="en-US" sz="3600" smtClean="0">
              <a:solidFill>
                <a:srgbClr val="FFFF00"/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40232" y="3132310"/>
            <a:ext cx="1687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mtClean="0">
                <a:solidFill>
                  <a:srgbClr val="00B050"/>
                </a:solidFill>
              </a:rPr>
              <a:t>[</a:t>
            </a:r>
            <a:r>
              <a:rPr lang="en-US" sz="2800" smtClean="0">
                <a:solidFill>
                  <a:srgbClr val="00B050"/>
                </a:solidFill>
                <a:latin typeface="Segoe UI Black" pitchFamily="34" charset="0"/>
                <a:ea typeface="Segoe UI Black" pitchFamily="34" charset="0"/>
              </a:rPr>
              <a:t>Inject</a:t>
            </a:r>
            <a:r>
              <a:rPr lang="en-US" sz="2800" smtClean="0">
                <a:solidFill>
                  <a:srgbClr val="00B050"/>
                </a:solidFill>
              </a:rPr>
              <a:t>]</a:t>
            </a:r>
            <a:endParaRPr lang="ru-RU" sz="2800">
              <a:solidFill>
                <a:srgbClr val="00B050"/>
              </a:solidFill>
            </a:endParaRPr>
          </a:p>
        </p:txBody>
      </p:sp>
      <p:sp>
        <p:nvSpPr>
          <p:cNvPr id="14340" name="AutoShape 4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2" name="AutoShape 6" descr="Делать инъекции — Стоковое фото © PetroP #2476382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467544" y="2370360"/>
            <a:ext cx="43204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ru-RU" sz="2200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 это </a:t>
            </a:r>
            <a:r>
              <a:rPr lang="ru-RU" sz="2200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паттерн проектирования, при котором компонент получает свои зависимости извне, а не создаёт </a:t>
            </a:r>
            <a:r>
              <a:rPr lang="ru-RU" sz="2200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их </a:t>
            </a:r>
            <a:r>
              <a:rPr lang="ru-RU" sz="2200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самостоятельно</a:t>
            </a:r>
            <a:r>
              <a:rPr lang="en-US" sz="2200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.</a:t>
            </a:r>
            <a:endParaRPr lang="ru-RU" sz="2200" smtClean="0">
              <a:solidFill>
                <a:srgbClr val="FFFF99"/>
              </a:solidFill>
              <a:latin typeface="Segoe UI Black" pitchFamily="34" charset="0"/>
              <a:ea typeface="Segoe UI Black" pitchFamily="34" charset="0"/>
            </a:endParaRPr>
          </a:p>
          <a:p>
            <a:pPr>
              <a:buFontTx/>
              <a:buChar char="-"/>
            </a:pPr>
            <a:endParaRPr lang="ru-RU" sz="2400" smtClean="0">
              <a:solidFill>
                <a:srgbClr val="FFFF99"/>
              </a:solidFill>
              <a:latin typeface="Segoe UI Black" pitchFamily="34" charset="0"/>
              <a:ea typeface="Segoe UI Black" pitchFamily="34" charset="0"/>
            </a:endParaRPr>
          </a:p>
          <a:p>
            <a:r>
              <a:rPr lang="ru-RU" i="1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Объект </a:t>
            </a:r>
            <a:r>
              <a:rPr lang="ru-RU" i="1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не создаёт внутри себя то, что ему нужно для работы, а получает это «снаружи</a:t>
            </a:r>
            <a:r>
              <a:rPr lang="ru-RU" i="1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» </a:t>
            </a:r>
            <a:r>
              <a:rPr lang="ru-RU" i="1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- </a:t>
            </a:r>
            <a:r>
              <a:rPr lang="ru-RU" i="1" smtClean="0">
                <a:solidFill>
                  <a:srgbClr val="FFFF99"/>
                </a:solidFill>
                <a:latin typeface="Segoe UI Black" pitchFamily="34" charset="0"/>
                <a:ea typeface="Segoe UI Black" pitchFamily="34" charset="0"/>
              </a:rPr>
              <a:t>как гость берёт готовые салфетки в ресторане, а не приносит свои из дома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Связанные одной нитью – Газета Коммерсантъ № 14 (5287) от 30.01.20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0880" y="2348880"/>
            <a:ext cx="7825576" cy="43978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539552" y="408727"/>
            <a:ext cx="835292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Зачем нужен DI? Для чего 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применяется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?</a:t>
            </a:r>
          </a:p>
          <a:p>
            <a:pPr algn="ctr"/>
            <a:endParaRPr lang="ru-RU" sz="2400" b="1" smtClean="0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 indent="355600"/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1. Снижение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связанности (decoupling)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-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классы зависят от абстракций (интерфейсов), а не от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конкретных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реализаций</a:t>
            </a:r>
            <a:endParaRPr lang="ru-RU" sz="2400" b="1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388982"/>
            <a:ext cx="83529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Зачем нужен DI? Для чего 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применяется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?</a:t>
            </a:r>
          </a:p>
          <a:p>
            <a:pPr marL="457200" indent="-457200"/>
            <a:endParaRPr lang="ru-RU" sz="2000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 indent="346075"/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2. Упрощение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тестирования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-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зависимости можно легко подменить на моки (заглушки)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Unit-тестировании</a:t>
            </a:r>
          </a:p>
        </p:txBody>
      </p:sp>
      <p:sp>
        <p:nvSpPr>
          <p:cNvPr id="17410" name="AutoShape 2" descr="Виды тестирования программ в разработке | Типы проверок в тестировани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7411" name="Picture 3" descr="C:\Users\660\Desktop\ms39su8gyjepk4u9jxt60xmqz8gsriu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276872"/>
            <a:ext cx="8130513" cy="41016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Зачем нужен DI? Для чего 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применяется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?</a:t>
            </a:r>
          </a:p>
          <a:p>
            <a:pPr marL="457200" indent="-457200"/>
            <a:endParaRPr lang="ru-RU" sz="2000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 indent="355600"/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3. Повышение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гибкости и переиспользуемости кода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-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замена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реализации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не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требует изменения классов, которые этой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зависимостью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пользуются</a:t>
            </a:r>
            <a:endParaRPr lang="ru-RU" sz="2000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pic>
        <p:nvPicPr>
          <p:cNvPr id="19458" name="Picture 2" descr="Смешные картинки Гибкость 27 фото"/>
          <p:cNvPicPr>
            <a:picLocks noChangeAspect="1" noChangeArrowheads="1"/>
          </p:cNvPicPr>
          <p:nvPr/>
        </p:nvPicPr>
        <p:blipFill>
          <a:blip r:embed="rId2" cstate="print"/>
          <a:srcRect t="22788" b="7219"/>
          <a:stretch>
            <a:fillRect/>
          </a:stretch>
        </p:blipFill>
        <p:spPr bwMode="auto">
          <a:xfrm>
            <a:off x="648731" y="2492896"/>
            <a:ext cx="8197187" cy="39604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Зачем нужен DI? Для чего 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применяется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?</a:t>
            </a:r>
          </a:p>
          <a:p>
            <a:pPr marL="457200" indent="-457200"/>
            <a:endParaRPr lang="ru-RU" sz="2400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 indent="355600"/>
            <a:r>
              <a:rPr lang="ru-RU" sz="24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4. Упрощение </a:t>
            </a:r>
            <a:r>
              <a:rPr lang="ru-RU" sz="24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поддержки и масштабирования </a:t>
            </a:r>
            <a:r>
              <a:rPr lang="ru-RU" sz="24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больших </a:t>
            </a:r>
            <a:r>
              <a:rPr lang="ru-RU" sz="24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проектов</a:t>
            </a:r>
            <a:endParaRPr lang="ru-RU" sz="2400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pic>
        <p:nvPicPr>
          <p:cNvPr id="18434" name="Picture 2" descr="Вес всадника и размер лошади | Prokoni.r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1844824"/>
            <a:ext cx="4324350" cy="48291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Зачем нужен DI? Для чего 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применяется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?</a:t>
            </a:r>
          </a:p>
          <a:p>
            <a:pPr marL="457200" indent="-457200"/>
            <a:endParaRPr lang="ru-RU" sz="2400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 indent="355600"/>
            <a:r>
              <a:rPr lang="ru-RU" sz="24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5. Централизованное </a:t>
            </a:r>
            <a:r>
              <a:rPr lang="ru-RU" sz="24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управление временем жизни объектов (Singleton / Scoped / </a:t>
            </a:r>
            <a:r>
              <a:rPr lang="ru-RU" sz="24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Transient</a:t>
            </a:r>
            <a:r>
              <a:rPr lang="ru-RU" sz="24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)</a:t>
            </a:r>
            <a:endParaRPr lang="ru-RU" sz="2400" b="1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pic>
        <p:nvPicPr>
          <p:cNvPr id="20482" name="Picture 2" descr="Научная команда из университета в Сан-Франциско разработала уникальное  приложение “Часы смерти” (Death Clock) - 21.09.24 12:36 | Пикабу"/>
          <p:cNvPicPr>
            <a:picLocks noChangeAspect="1" noChangeArrowheads="1"/>
          </p:cNvPicPr>
          <p:nvPr/>
        </p:nvPicPr>
        <p:blipFill>
          <a:blip r:embed="rId2" cstate="print"/>
          <a:srcRect l="7050" t="3281" r="4822" b="3212"/>
          <a:stretch>
            <a:fillRect/>
          </a:stretch>
        </p:blipFill>
        <p:spPr bwMode="auto">
          <a:xfrm>
            <a:off x="2627784" y="2020524"/>
            <a:ext cx="4104456" cy="46790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Что такое </a:t>
            </a:r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DI-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контейнер </a:t>
            </a:r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(IoC-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контейнер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)?</a:t>
            </a:r>
            <a:endParaRPr lang="ru-RU" sz="2800" b="1" smtClean="0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 algn="ctr"/>
            <a:endParaRPr lang="ru-RU" sz="2400" b="1" smtClean="0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-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это специальная библиотека, которая автоматизирует процесс внедрения зависимостей: сама создаёт объекты, разрешает граф зависимостей и управляет их жизненными циклами. По сути, это «умная фабрика», которая по запросу предоставляет готовые объекты со всеми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их </a:t>
            </a:r>
            <a:r>
              <a:rPr lang="ru-RU" sz="2000" b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зависимостями</a:t>
            </a:r>
            <a:endParaRPr lang="ru-RU" sz="2400" b="1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pic>
        <p:nvPicPr>
          <p:cNvPr id="15362" name="Picture 2" descr="Елена Романичева о роли библиотеки в учебном процессе - МГПУ"/>
          <p:cNvPicPr>
            <a:picLocks noChangeAspect="1" noChangeArrowheads="1"/>
          </p:cNvPicPr>
          <p:nvPr/>
        </p:nvPicPr>
        <p:blipFill>
          <a:blip r:embed="rId2" cstate="print"/>
          <a:srcRect t="13914" b="12540"/>
          <a:stretch>
            <a:fillRect/>
          </a:stretch>
        </p:blipFill>
        <p:spPr bwMode="auto">
          <a:xfrm>
            <a:off x="827584" y="2852936"/>
            <a:ext cx="7857588" cy="38510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Сравнение </a:t>
            </a:r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DI-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контейнеров 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для </a:t>
            </a:r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Unity</a:t>
            </a:r>
            <a:endParaRPr lang="en-US" sz="2800" b="1" smtClean="0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39553" y="980728"/>
          <a:ext cx="8424936" cy="554461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72207"/>
                <a:gridCol w="2952328"/>
                <a:gridCol w="3600401"/>
              </a:tblGrid>
              <a:tr h="488247">
                <a:tc>
                  <a:txBody>
                    <a:bodyPr/>
                    <a:lstStyle/>
                    <a:p>
                      <a:pPr algn="ctr"/>
                      <a:r>
                        <a:rPr kumimoji="0" lang="ru-RU" b="0" i="0" kern="1200" smtClean="0">
                          <a:solidFill>
                            <a:schemeClr val="bg1"/>
                          </a:solidFill>
                          <a:latin typeface="Segoe UI Black" pitchFamily="34" charset="0"/>
                          <a:ea typeface="Segoe UI Black" pitchFamily="34" charset="0"/>
                          <a:cs typeface="+mn-cs"/>
                        </a:rPr>
                        <a:t>Название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>
                          <a:latin typeface="Segoe UI Black" pitchFamily="34" charset="0"/>
                          <a:ea typeface="Segoe UI Black" pitchFamily="34" charset="0"/>
                        </a:rPr>
                        <a:t>Позиционирование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>
                          <a:latin typeface="Segoe UI Black" pitchFamily="34" charset="0"/>
                          <a:ea typeface="Segoe UI Black" pitchFamily="34" charset="0"/>
                        </a:rPr>
                        <a:t>Ключевые особенности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</a:tr>
              <a:tr h="1926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>
                          <a:latin typeface="Segoe UI Black" pitchFamily="34" charset="0"/>
                          <a:ea typeface="Segoe UI Black" pitchFamily="34" charset="0"/>
                        </a:rPr>
                        <a:t>Zenject (Extenject)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>
                          <a:latin typeface="Segoe UI Black" pitchFamily="34" charset="0"/>
                          <a:ea typeface="Segoe UI Black" pitchFamily="34" charset="0"/>
                        </a:rPr>
                        <a:t>Самый популярный, «тяжёлый» и многофункциональный DI-фреймворк для Unity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>
                          <a:latin typeface="Segoe UI Black" pitchFamily="34" charset="0"/>
                          <a:ea typeface="Segoe UI Black" pitchFamily="34" charset="0"/>
                        </a:rPr>
                        <a:t>Мощнейший API, большое сообщество, но медленный, сложный в освоении, высокий порог входа, давно не обновляется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</a:tr>
              <a:tr h="22874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>
                          <a:latin typeface="Segoe UI Black" pitchFamily="34" charset="0"/>
                          <a:ea typeface="Segoe UI Black" pitchFamily="34" charset="0"/>
                        </a:rPr>
                        <a:t>Vcontainer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>
                          <a:latin typeface="Segoe UI Black" pitchFamily="34" charset="0"/>
                          <a:ea typeface="Segoe UI Black" pitchFamily="34" charset="0"/>
                        </a:rPr>
                        <a:t>Современная, лёгкая и очень быстрая альтернатива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>
                          <a:latin typeface="Segoe UI Black" pitchFamily="34" charset="0"/>
                          <a:ea typeface="Segoe UI Black" pitchFamily="34" charset="0"/>
                        </a:rPr>
                        <a:t>Высокая производительность (в 5–10 раз быстрее Zenject), нулевые аллокации, активная поддержка, простой API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</a:tr>
              <a:tr h="8427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>
                          <a:latin typeface="Segoe UI Black" pitchFamily="34" charset="0"/>
                          <a:ea typeface="Segoe UI Black" pitchFamily="34" charset="0"/>
                        </a:rPr>
                        <a:t>Reflex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>
                          <a:latin typeface="Segoe UI Black" pitchFamily="34" charset="0"/>
                          <a:ea typeface="Segoe UI Black" pitchFamily="34" charset="0"/>
                        </a:rPr>
                        <a:t>Минималистичный </a:t>
                      </a:r>
                      <a:r>
                        <a:rPr lang="en-US" smtClean="0">
                          <a:latin typeface="Segoe UI Black" pitchFamily="34" charset="0"/>
                          <a:ea typeface="Segoe UI Black" pitchFamily="34" charset="0"/>
                        </a:rPr>
                        <a:t>DI-</a:t>
                      </a:r>
                      <a:r>
                        <a:rPr lang="ru-RU" smtClean="0">
                          <a:latin typeface="Segoe UI Black" pitchFamily="34" charset="0"/>
                          <a:ea typeface="Segoe UI Black" pitchFamily="34" charset="0"/>
                        </a:rPr>
                        <a:t>фреймворк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>
                          <a:latin typeface="Segoe UI Black" pitchFamily="34" charset="0"/>
                          <a:ea typeface="Segoe UI Black" pitchFamily="34" charset="0"/>
                        </a:rPr>
                        <a:t>Blazing fast, небольшой размер кода</a:t>
                      </a:r>
                      <a:endParaRPr lang="ru-RU">
                        <a:latin typeface="Segoe UI Black" pitchFamily="34" charset="0"/>
                        <a:ea typeface="Segoe UI Black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Почему </a:t>
            </a:r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VContainer?</a:t>
            </a:r>
          </a:p>
          <a:p>
            <a:pPr algn="ctr"/>
            <a:endParaRPr lang="ru-RU" sz="2400" b="1" smtClean="0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r>
              <a:rPr lang="ru-RU" sz="2000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VContainer</a:t>
            </a:r>
            <a:r>
              <a:rPr lang="ru-RU" sz="2000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2000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- </a:t>
            </a:r>
            <a:r>
              <a:rPr lang="ru-RU" sz="2000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это экстра-быстрая DI-библиотека для Unity с минимальным размером кода и отсутствием аллокаций GC </a:t>
            </a:r>
            <a:r>
              <a:rPr lang="ru-RU" sz="2000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 </a:t>
            </a:r>
            <a:r>
              <a:rPr lang="ru-RU" sz="2000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резолвинге</a:t>
            </a:r>
          </a:p>
        </p:txBody>
      </p:sp>
      <p:pic>
        <p:nvPicPr>
          <p:cNvPr id="21506" name="Picture 2" descr="Самый быстрый: проект о рекордах скорости и действий — Городской репортер —  Ростов-на-Дону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0050" y="1988840"/>
            <a:ext cx="4351420" cy="24482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611560" y="2163628"/>
            <a:ext cx="4104456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u="sng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Ключевые </a:t>
            </a:r>
            <a:r>
              <a:rPr lang="ru-RU" sz="1600" b="1" u="sng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тезисы:</a:t>
            </a:r>
            <a:r>
              <a:rPr lang="ru-RU" sz="1600" b="1" u="sng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 </a:t>
            </a:r>
            <a:endParaRPr lang="ru-RU" sz="1600" b="1" u="sng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endParaRPr lang="ru-RU" sz="600" b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>
              <a:buFontTx/>
              <a:buChar char="-"/>
            </a:pP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сверхбыстрый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(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5-10x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быстрее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Zenject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);</a:t>
            </a:r>
          </a:p>
          <a:p>
            <a:endParaRPr lang="ru-RU" sz="800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>
              <a:buFontTx/>
              <a:buChar char="-"/>
            </a:pP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 без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аллокаций при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запросе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зависимостей;</a:t>
            </a:r>
          </a:p>
          <a:p>
            <a:endParaRPr lang="ru-RU" sz="800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>
              <a:buFontTx/>
              <a:buChar char="-"/>
            </a:pP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 очень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маленький размер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скомпилированного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кода;</a:t>
            </a:r>
          </a:p>
          <a:p>
            <a:endParaRPr lang="ru-RU" sz="800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>
              <a:buFontTx/>
              <a:buChar char="-"/>
            </a:pP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 неусложнённый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, прозрачный и простой API для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корректного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DI;</a:t>
            </a:r>
          </a:p>
          <a:p>
            <a:pPr lvl="0"/>
            <a:endParaRPr lang="ru-RU" sz="800" smtClean="0">
              <a:solidFill>
                <a:prstClr val="white">
                  <a:lumMod val="95000"/>
                </a:prstClr>
              </a:solidFill>
              <a:latin typeface="Segoe UI Black" pitchFamily="34" charset="0"/>
              <a:ea typeface="Segoe UI Black" pitchFamily="34" charset="0"/>
            </a:endParaRPr>
          </a:p>
          <a:p>
            <a:pPr>
              <a:buFontTx/>
              <a:buChar char="-"/>
            </a:pP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 потокобезопасность;</a:t>
            </a:r>
          </a:p>
          <a:p>
            <a:endParaRPr lang="ru-RU" sz="800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>
              <a:buFontTx/>
              <a:buChar char="-"/>
            </a:pP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тонкая интеграция с Unity-специфичными объектами (MonoBehaviour, ScriptableObject и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т.п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.);</a:t>
            </a:r>
          </a:p>
          <a:p>
            <a:endParaRPr lang="ru-RU" sz="800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  <a:p>
            <a:pPr>
              <a:buFontTx/>
              <a:buChar char="-"/>
            </a:pP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активная поддержка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и </a:t>
            </a:r>
            <a:r>
              <a:rPr lang="ru-RU" sz="1600" i="1" smtClean="0">
                <a:solidFill>
                  <a:schemeClr val="tx1">
                    <a:lumMod val="95000"/>
                  </a:schemeClr>
                </a:solidFill>
                <a:latin typeface="Segoe UI Black" pitchFamily="34" charset="0"/>
                <a:ea typeface="Segoe UI Black" pitchFamily="34" charset="0"/>
              </a:rPr>
              <a:t>развитие</a:t>
            </a:r>
            <a:endParaRPr lang="ru-RU" sz="1600" i="1" smtClean="0">
              <a:solidFill>
                <a:schemeClr val="tx1">
                  <a:lumMod val="95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 rot="10800000">
            <a:off x="5076056" y="4797152"/>
            <a:ext cx="3528392" cy="1728192"/>
          </a:xfrm>
          <a:prstGeom prst="wedgeRoundRectCallout">
            <a:avLst>
              <a:gd name="adj1" fmla="val 5371"/>
              <a:gd name="adj2" fmla="val 67791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5220072" y="5013176"/>
            <a:ext cx="32403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smtClean="0">
                <a:solidFill>
                  <a:srgbClr val="C00000"/>
                </a:solidFill>
                <a:latin typeface="Segoe UI Black" pitchFamily="34" charset="0"/>
                <a:ea typeface="Segoe UI Black" pitchFamily="34" charset="0"/>
              </a:rPr>
              <a:t>VContainer имеет смысл, если вам нужен лёгкий, быстрый и простой в использовании DI-контейнер</a:t>
            </a:r>
            <a:endParaRPr lang="ru-RU" sz="1600" i="1" smtClean="0">
              <a:solidFill>
                <a:srgbClr val="C00000"/>
              </a:solidFill>
              <a:latin typeface="Segoe UI Black" pitchFamily="34" charset="0"/>
              <a:ea typeface="Segoe UI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Пример регистрации зависимостей</a:t>
            </a:r>
            <a:endParaRPr lang="ru-RU" sz="2800" b="1" smtClean="0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556792"/>
            <a:ext cx="8475210" cy="45365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Пример инъекции зависимостей</a:t>
            </a:r>
            <a:endParaRPr lang="ru-RU" sz="2800" b="1" smtClean="0">
              <a:solidFill>
                <a:schemeClr val="accent4">
                  <a:lumMod val="20000"/>
                  <a:lumOff val="80000"/>
                </a:schemeClr>
              </a:solidFill>
              <a:latin typeface="Segoe UI Black" pitchFamily="34" charset="0"/>
              <a:ea typeface="Segoe UI Black" pitchFamily="34" charset="0"/>
            </a:endParaRPr>
          </a:p>
        </p:txBody>
      </p:sp>
      <p:pic>
        <p:nvPicPr>
          <p:cNvPr id="24578" name="Picture 2" descr="C:\Users\660\Desktop\Без имени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836712"/>
            <a:ext cx="5832648" cy="58397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VContainer vs Zenject: API-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сравнение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62033"/>
            <a:ext cx="8517776" cy="37992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9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VContainer vs Zenject: </a:t>
            </a:r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Плюсы и минусы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8555" y="1365134"/>
            <a:ext cx="8385933" cy="47281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18864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egoe UI Black" pitchFamily="34" charset="0"/>
                <a:ea typeface="Segoe UI Black" pitchFamily="34" charset="0"/>
              </a:rPr>
              <a:t>VContainer — Основные термины и понятия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560" y="764704"/>
            <a:ext cx="82809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en-US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LifetimeScope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основной строительный блок, определяющий время жизни и границы группы зарегистрированных зависимостей (объектов). Самый главный класс в 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VContainer,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наследующийся от 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MonoBehaviour,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вешается на 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GameObject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в сцене или префаб. Определяет область видимости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контейнера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всё, что зарегистрировано в этом скоупе (или в родительских),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доступно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внутри</a:t>
            </a:r>
            <a:endParaRPr lang="ru-RU" sz="1600" smtClean="0">
              <a:latin typeface="Segoe UI Black" pitchFamily="34" charset="0"/>
              <a:ea typeface="Segoe UI Black" pitchFamily="34" charset="0"/>
            </a:endParaRPr>
          </a:p>
          <a:p>
            <a:endParaRPr lang="ru-RU" sz="1600" smtClean="0">
              <a:latin typeface="Segoe UI Black" pitchFamily="34" charset="0"/>
              <a:ea typeface="Segoe UI Black" pitchFamily="34" charset="0"/>
            </a:endParaRPr>
          </a:p>
          <a:p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Lifetime 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(Transient, Scoped, Singleton):</a:t>
            </a:r>
          </a:p>
          <a:p>
            <a:pPr>
              <a:buFont typeface="Arial" pitchFamily="34" charset="0"/>
              <a:buChar char="•"/>
            </a:pPr>
            <a:r>
              <a:rPr lang="ru-RU" sz="1600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en-US" sz="1600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Transient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каждый раз новый экземпляр;</a:t>
            </a:r>
          </a:p>
          <a:p>
            <a:pPr>
              <a:buFont typeface="Arial" pitchFamily="34" charset="0"/>
              <a:buChar char="•"/>
            </a:pPr>
            <a:r>
              <a:rPr lang="ru-RU" sz="1600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en-US" sz="1600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Scoped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один экземпляр в рамках одного 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LifetimeScope;</a:t>
            </a:r>
          </a:p>
          <a:p>
            <a:pPr>
              <a:buFont typeface="Arial" pitchFamily="34" charset="0"/>
              <a:buChar char="•"/>
            </a:pPr>
            <a:r>
              <a:rPr lang="ru-RU" sz="1600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en-US" sz="1600" smtClean="0">
                <a:solidFill>
                  <a:srgbClr val="FFC000"/>
                </a:solidFill>
                <a:latin typeface="Segoe UI Black" pitchFamily="34" charset="0"/>
                <a:ea typeface="Segoe UI Black" pitchFamily="34" charset="0"/>
              </a:rPr>
              <a:t>Singleton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один экземпляр на всё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приложение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ru-RU" sz="1600" smtClean="0">
              <a:latin typeface="Segoe UI Black" pitchFamily="34" charset="0"/>
              <a:ea typeface="Segoe UI Black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ru-RU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en-US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IContainerBuilder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интерфейс, через который происходит регистрация типов (как правило, внутри метода 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Configure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вашего 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LifetimeScope).</a:t>
            </a:r>
          </a:p>
          <a:p>
            <a:pPr>
              <a:buFont typeface="Arial" pitchFamily="34" charset="0"/>
              <a:buChar char="•"/>
            </a:pPr>
            <a:r>
              <a:rPr lang="ru-RU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en-US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RegisterEntryPoint&lt;T</a:t>
            </a:r>
            <a:r>
              <a:rPr lang="en-US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&gt;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способ инициализации чистой 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C#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логики, симулирующей жизненный цикл 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MonoBehaviour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без использования 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MonoBehaviour (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реализуя интерфейсы типа 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IStartable, ITickable).</a:t>
            </a:r>
          </a:p>
          <a:p>
            <a:pPr>
              <a:buFont typeface="Arial" pitchFamily="34" charset="0"/>
              <a:buChar char="•"/>
            </a:pPr>
            <a:r>
              <a:rPr lang="ru-RU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en-US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RegisterComponentInHierarchy</a:t>
            </a:r>
            <a:r>
              <a:rPr lang="en-US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 / RegisterComponentOnNewGameObject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удобные методы для регистрации 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Unity-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компонентов.</a:t>
            </a:r>
          </a:p>
          <a:p>
            <a:pPr>
              <a:buFont typeface="Arial" pitchFamily="34" charset="0"/>
              <a:buChar char="•"/>
            </a:pPr>
            <a:r>
              <a:rPr lang="ru-RU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en-US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ContainerBuilder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объект, собирающий регистрации перед созданием контейнера.</a:t>
            </a:r>
          </a:p>
          <a:p>
            <a:pPr>
              <a:buFont typeface="Arial" pitchFamily="34" charset="0"/>
              <a:buChar char="•"/>
            </a:pPr>
            <a:r>
              <a:rPr lang="ru-RU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 </a:t>
            </a:r>
            <a:r>
              <a:rPr lang="en-US" sz="1600" smtClean="0">
                <a:solidFill>
                  <a:srgbClr val="FFFF00"/>
                </a:solidFill>
                <a:latin typeface="Segoe UI Black" pitchFamily="34" charset="0"/>
                <a:ea typeface="Segoe UI Black" pitchFamily="34" charset="0"/>
              </a:rPr>
              <a:t>IObjectResolver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 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-</a:t>
            </a:r>
            <a:r>
              <a:rPr lang="en-US" sz="1600" smtClean="0">
                <a:latin typeface="Segoe UI Black" pitchFamily="34" charset="0"/>
                <a:ea typeface="Segoe UI Black" pitchFamily="34" charset="0"/>
              </a:rPr>
              <a:t>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интерфейс для получения зарегистрированных сервисов из контейнера (обычно не требуется использовать напрямую, т.к. инъекция 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автоматическая</a:t>
            </a:r>
            <a:r>
              <a:rPr lang="ru-RU" sz="1600" smtClean="0">
                <a:latin typeface="Segoe UI Black" pitchFamily="34" charset="0"/>
                <a:ea typeface="Segoe UI Black" pitchFamily="34" charset="0"/>
              </a:rPr>
              <a:t>).</a:t>
            </a:r>
            <a:endParaRPr lang="ru-RU" sz="1600">
              <a:latin typeface="Segoe UI Black" pitchFamily="34" charset="0"/>
              <a:ea typeface="Segoe UI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етро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Метро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381</TotalTime>
  <Words>499</Words>
  <Application>Microsoft Office PowerPoint</Application>
  <PresentationFormat>Экран (4:3)</PresentationFormat>
  <Paragraphs>118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Метро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Acer</dc:creator>
  <cp:lastModifiedBy>Acer</cp:lastModifiedBy>
  <cp:revision>22</cp:revision>
  <dcterms:created xsi:type="dcterms:W3CDTF">2026-04-25T20:02:24Z</dcterms:created>
  <dcterms:modified xsi:type="dcterms:W3CDTF">2026-04-26T02:37:11Z</dcterms:modified>
</cp:coreProperties>
</file>